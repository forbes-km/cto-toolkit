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Update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—  Board of Directors  —  Q3 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3886200"/>
            <a:ext cx="20116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sample deck. Figures are synthetic; structure follows the CTO Toolkit's Board Reporting page.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99.97%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uptime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99.95%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security incidents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quarter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0936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in production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under governance review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8972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2688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 reduction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32688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over year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0332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F3EA"/>
          </a:solidFill>
          <a:ln w="12700">
            <a:solidFill>
              <a:srgbClr val="E9D8B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3840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input needed this meeting: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384048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requested for the platform reliability investment — see Decisions, slide 7.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 This Quarter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for the business, not what shipped internally.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48132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3898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 time cut from 5 weeks to 12 days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8745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data shows a meaningful lift in trial-to-paid conversion; full quarter attribution in progress.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289864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28072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pricing tier launched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32918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segment previously requiring a sales-assisted deal; first full quarter of bookings next update.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431596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2245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 reduced 18% year over year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through commitment coverage and rightsizing, with no reduction in reliability targets.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 &amp; AI Posture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detect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463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hrs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from 3.4 hrs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83664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9568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remediate (critical)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19568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days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9568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from 7.2 days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2377440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450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under current compliance coverage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245059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4505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from 89%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8640" y="2871216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443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with current SOC 2 or equivalent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29443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4754880" y="29443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from 85%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3364992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5478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material incidents this quarter. Cyber insurance coverage current and adequate for estimated exposure. Controls tracking in line with industry peers on the metrics we benchmark.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989320" y="1051560"/>
            <a:ext cx="0" cy="5029200"/>
          </a:xfrm>
          <a:prstGeom prst="line">
            <a:avLst/>
          </a:prstGeom>
          <a:noFill/>
          <a:ln w="12700">
            <a:solidFill>
              <a:srgbClr val="DC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09360" y="100584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446" y="1051926"/>
            <a:ext cx="237012" cy="23701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720840" y="10058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PRODUCTION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309360" y="1563624"/>
            <a:ext cx="73152" cy="7315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537960" y="14538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support triage — routes and drafts first-response suggestions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309360" y="2130552"/>
            <a:ext cx="73152" cy="7315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537960" y="20208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knowledge search — employee-facing, no customer data exposure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9360" y="2697480"/>
            <a:ext cx="73152" cy="7315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6537960" y="25877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assistant — engineering only, human approval required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6309360" y="33467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spend: $14,200  ·  Governed under the standing AI control framework (identity, data, model, monitoring)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&amp; Roadmap Tied to Outcomes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371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023360" y="13716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 it drives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11064240" cy="960120"/>
          </a:xfrm>
          <a:prstGeom prst="rect">
            <a:avLst/>
          </a:prstGeom>
          <a:solidFill>
            <a:srgbClr val="F7F8FA"/>
          </a:solidFill>
          <a:ln w="6350">
            <a:solidFill>
              <a:srgbClr val="DCDF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8288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reliability investment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82880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3x customer growth without proportional headcount growth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18288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CDF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7889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system modernization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78892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invoice-to-cash cycle time; unblocks two enterprise deals pending this capability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9692640" y="27889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Q1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749040"/>
            <a:ext cx="11064240" cy="960120"/>
          </a:xfrm>
          <a:prstGeom prst="rect">
            <a:avLst/>
          </a:prstGeom>
          <a:solidFill>
            <a:srgbClr val="F7F8FA"/>
          </a:solidFill>
          <a:ln w="6350">
            <a:solidFill>
              <a:srgbClr val="DCDF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7490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tier expansion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374904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segment previously requiring a sales-assisted deal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374904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At a Glance and In Business Terms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2834640" cy="2834640"/>
          </a:xfrm>
          <a:prstGeom prst="rect">
            <a:avLst/>
          </a:prstGeom>
          <a:solidFill>
            <a:srgbClr val="FAFBFC"/>
          </a:solidFill>
          <a:ln w="12700">
            <a:solidFill>
              <a:srgbClr val="DCDF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15568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84248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82496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551176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49424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3118104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16352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3685032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386584" y="1554480"/>
            <a:ext cx="292608" cy="292608"/>
          </a:xfrm>
          <a:prstGeom prst="ellipse">
            <a:avLst/>
          </a:prstGeom>
          <a:solidFill>
            <a:srgbClr val="C039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86584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252728" y="2121408"/>
            <a:ext cx="292608" cy="292608"/>
          </a:xfrm>
          <a:prstGeom prst="ellipse">
            <a:avLst/>
          </a:prstGeom>
          <a:solidFill>
            <a:srgbClr val="C08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52728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819656" y="2688336"/>
            <a:ext cx="292608" cy="292608"/>
          </a:xfrm>
          <a:prstGeom prst="ellipse">
            <a:avLst/>
          </a:prstGeom>
          <a:solidFill>
            <a:srgbClr val="C08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19656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85800" y="2121408"/>
            <a:ext cx="292608" cy="292608"/>
          </a:xfrm>
          <a:prstGeom prst="ellipse">
            <a:avLst/>
          </a:prstGeom>
          <a:solidFill>
            <a:srgbClr val="C08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252728" y="3255264"/>
            <a:ext cx="292608" cy="292608"/>
          </a:xfrm>
          <a:prstGeom prst="ellipse">
            <a:avLst/>
          </a:prstGeom>
          <a:solidFill>
            <a:srgbClr val="1E7A4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52728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1124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↑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43068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→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FIVE RISKS THIS QUARTER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1764792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840480" y="17647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169664" y="17099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processor concentration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840480" y="2167128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840480" y="21671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4169664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authentication vulnerability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840480" y="2569464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840480" y="25694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4169664" y="2514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key-person dependency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3840480" y="2971800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840480" y="29718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4169664" y="29169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region single point of failure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840480" y="3374136"/>
            <a:ext cx="219456" cy="219456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3840480" y="33741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169664" y="33192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data processor gap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0EE"/>
          </a:solidFill>
          <a:ln w="12700">
            <a:solidFill>
              <a:srgbClr val="E8C7C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68680" y="47731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— Payment processor concentration, in business terms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868680" y="5138928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payment processor handles 100% of transaction volume. An outage or contract dispute would stop revenue collection for an estimated 60% of customers for 3 to 5 business days at current readiness. Mitigation: a secondary processor integration is scoped in the Q1 roadmap (slide 5).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&amp; Requests From the Board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1536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REQUESTED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$2.4M platform reliability investment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317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the infrastructure work needed to support 3x customer growth over the next 18 months without a proportional increase in headcount. Full business case attached in the appendix.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639312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3520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discussion: acceptable risk tolerance for the payment processor concentration (slide 6) while the secondary integration is built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325112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42062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awareness only: AI governance framework will be reviewed against emerging regulatory guidance next quarter, no board action needed now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2026-08-30T18:30:40Z</dcterms:created>
  <dcterms:modified xsi:type="dcterms:W3CDTF">2026-08-30T18:30:40Z</dcterms:modified>
</cp:coreProperties>
</file>