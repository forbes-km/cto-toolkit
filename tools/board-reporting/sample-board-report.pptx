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41207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331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Update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2461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Company  —  Board of Directors  —  Q3 2026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3886200"/>
            <a:ext cx="20116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sample deck. Figures are synthetic; structure follows the CTO Toolkit's Board Reporting page.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407" y="510967"/>
            <a:ext cx="276515" cy="27651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51560" y="429768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12700">
            <a:solidFill>
              <a:srgbClr val="DCDF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685800" y="16459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99.97%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4688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uptime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95351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99.95%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429000" y="141732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12700">
            <a:solidFill>
              <a:srgbClr val="DCDF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3566160" y="16459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3566160" y="24688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security incidents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566160" y="295351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quarter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309360" y="141732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12700">
            <a:solidFill>
              <a:srgbClr val="DCDF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6446520" y="16459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6446520" y="24688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systems in production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295351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under governance review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9189720" y="141732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12700">
            <a:solidFill>
              <a:srgbClr val="DCDF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 txBox="1"/>
          <p:nvPr/>
        </p:nvSpPr>
        <p:spPr>
          <a:xfrm>
            <a:off x="9326880" y="16459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4000" dirty="0"/>
          </a:p>
        </p:txBody>
      </p:sp>
      <p:sp>
        <p:nvSpPr>
          <p:cNvPr id="19" name="Text 16"/>
          <p:cNvSpPr txBox="1"/>
          <p:nvPr/>
        </p:nvSpPr>
        <p:spPr>
          <a:xfrm>
            <a:off x="9326880" y="24688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cost reduction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9326880" y="295351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over year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70332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FBF3EA"/>
          </a:solidFill>
          <a:ln w="12700">
            <a:solidFill>
              <a:srgbClr val="E9D8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 txBox="1"/>
          <p:nvPr/>
        </p:nvSpPr>
        <p:spPr>
          <a:xfrm>
            <a:off x="822960" y="384048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input needed this meeting: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663440" y="3840480"/>
            <a:ext cx="6766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requested for the platform reliability investment — see Decisions, slide 7.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Company  ·  Board of Directors  ·  Q3 2026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10332720" y="6537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407" y="510967"/>
            <a:ext cx="276515" cy="27651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51560" y="429768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Outcomes This Quarter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8686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 for the business, not what shipped internally.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1481328"/>
            <a:ext cx="329184" cy="3291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88720" y="138988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onboarding time cut from 5 weeks to 12 days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8745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data shows a meaningful lift in trial-to-paid conversion; full quarter attribution in progress.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8346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2898648"/>
            <a:ext cx="329184" cy="32918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88720" y="280720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pricing tier launched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1188720" y="329184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a segment previously requiring a sales-assisted deal; first full quarter of bookings next update.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548640" y="4251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431596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188720" y="422452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cost reduced 18% year over year</a:t>
            </a:r>
            <a:endParaRPr lang="en-US" sz="1600" dirty="0"/>
          </a:p>
        </p:txBody>
      </p:sp>
      <p:sp>
        <p:nvSpPr>
          <p:cNvPr id="17" name="Text 11"/>
          <p:cNvSpPr txBox="1"/>
          <p:nvPr/>
        </p:nvSpPr>
        <p:spPr>
          <a:xfrm>
            <a:off x="1188720" y="470916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Achieved through commitment coverage and rightsizing, with no reduction in reliability targets.</a:t>
            </a:r>
            <a:endParaRPr lang="en-US" sz="1250" dirty="0"/>
          </a:p>
        </p:txBody>
      </p:sp>
      <p:sp>
        <p:nvSpPr>
          <p:cNvPr id="18" name="Text 12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Company  ·  Board of Directors  ·  Q3 2026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10332720" y="6537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407" y="510967"/>
            <a:ext cx="276515" cy="27651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51560" y="429768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Security, Compliance &amp; AI Posture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051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63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detect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3749040" y="14630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hrs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4754880" y="1463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from 3.4 hrs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1883664"/>
            <a:ext cx="5120640" cy="0"/>
          </a:xfrm>
          <a:prstGeom prst="line">
            <a:avLst/>
          </a:prstGeom>
          <a:noFill/>
          <a:ln w="9525">
            <a:solidFill>
              <a:srgbClr val="DCDF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548640" y="195681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remediate (critical)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749040" y="195681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 days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195681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from 7.2 days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48640" y="2377440"/>
            <a:ext cx="5120640" cy="0"/>
          </a:xfrm>
          <a:prstGeom prst="line">
            <a:avLst/>
          </a:prstGeom>
          <a:noFill/>
          <a:ln w="9525">
            <a:solidFill>
              <a:srgbClr val="DCDF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548640" y="24505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under current compliance coverage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749040" y="245059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4754880" y="245059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from 89%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48640" y="2871216"/>
            <a:ext cx="5120640" cy="0"/>
          </a:xfrm>
          <a:prstGeom prst="line">
            <a:avLst/>
          </a:prstGeom>
          <a:noFill/>
          <a:ln w="9525">
            <a:solidFill>
              <a:srgbClr val="DCDF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 txBox="1"/>
          <p:nvPr/>
        </p:nvSpPr>
        <p:spPr>
          <a:xfrm>
            <a:off x="548640" y="294436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Vendors with current SOC 2 or equivalent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749040" y="294436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4754880" y="29443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from 85%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48640" y="3364992"/>
            <a:ext cx="5120640" cy="0"/>
          </a:xfrm>
          <a:prstGeom prst="line">
            <a:avLst/>
          </a:prstGeom>
          <a:noFill/>
          <a:ln w="9525">
            <a:solidFill>
              <a:srgbClr val="DCDF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 txBox="1"/>
          <p:nvPr/>
        </p:nvSpPr>
        <p:spPr>
          <a:xfrm>
            <a:off x="548640" y="354787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material incidents this quarter. Cyber insurance coverage current and adequate for estimated exposure. Controls tracking in line with industry peers on the metrics we benchmark.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989320" y="1051560"/>
            <a:ext cx="0" cy="5029200"/>
          </a:xfrm>
          <a:prstGeom prst="line">
            <a:avLst/>
          </a:prstGeom>
          <a:noFill/>
          <a:ln w="12700">
            <a:solidFill>
              <a:srgbClr val="DCDF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309360" y="100584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446" y="1051926"/>
            <a:ext cx="237012" cy="237012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6720840" y="100584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PRODUCTION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6309360" y="1563624"/>
            <a:ext cx="73152" cy="7315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 txBox="1"/>
          <p:nvPr/>
        </p:nvSpPr>
        <p:spPr>
          <a:xfrm>
            <a:off x="6537960" y="145389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support triage — routes and drafts first-response suggestions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6309360" y="2130552"/>
            <a:ext cx="73152" cy="7315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 txBox="1"/>
          <p:nvPr/>
        </p:nvSpPr>
        <p:spPr>
          <a:xfrm>
            <a:off x="6537960" y="202082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knowledge search — employee-facing, no customer data exposure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309360" y="2697480"/>
            <a:ext cx="73152" cy="7315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 txBox="1"/>
          <p:nvPr/>
        </p:nvSpPr>
        <p:spPr>
          <a:xfrm>
            <a:off x="6537960" y="258775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 assistant — engineering only, human approval required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6309360" y="334670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spend: $14,200  ·  Governed under the standing AI control framework (identity, data, model, monitoring)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Company  ·  Board of Directors  ·  Q3 2026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10332720" y="6537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407" y="510967"/>
            <a:ext cx="276515" cy="27651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51560" y="429768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&amp; Roadmap Tied to Outcomes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731520" y="13716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Initiative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023360" y="137160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outcome it drives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692640" y="1371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1828800"/>
            <a:ext cx="11064240" cy="960120"/>
          </a:xfrm>
          <a:prstGeom prst="rect">
            <a:avLst/>
          </a:prstGeom>
          <a:solidFill>
            <a:srgbClr val="F7F8FA"/>
          </a:solidFill>
          <a:ln w="6350">
            <a:solidFill>
              <a:srgbClr val="DCDF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731520" y="182880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reliability investment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1828800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3x customer growth without proportional headcount growth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9692640" y="182880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2788920"/>
            <a:ext cx="110642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CDF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731520" y="278892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system modernization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4023360" y="2788920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invoice-to-cash cycle time; unblocks two enterprise deals pending this capability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9692640" y="278892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Planned, Q1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48640" y="3749040"/>
            <a:ext cx="11064240" cy="960120"/>
          </a:xfrm>
          <a:prstGeom prst="rect">
            <a:avLst/>
          </a:prstGeom>
          <a:solidFill>
            <a:srgbClr val="F7F8FA"/>
          </a:solidFill>
          <a:ln w="6350">
            <a:solidFill>
              <a:srgbClr val="DCDF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 txBox="1"/>
          <p:nvPr/>
        </p:nvSpPr>
        <p:spPr>
          <a:xfrm>
            <a:off x="731520" y="374904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tier expansion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4023360" y="3749040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a segment previously requiring a sales-assisted deal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92640" y="374904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Company  ·  Board of Directors  ·  Q3 2026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0332720" y="6537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407" y="510967"/>
            <a:ext cx="276515" cy="27651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51560" y="429768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At a Glance and In Business Terms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2834640" cy="2834640"/>
          </a:xfrm>
          <a:prstGeom prst="rect">
            <a:avLst/>
          </a:prstGeom>
          <a:solidFill>
            <a:srgbClr val="FAFBFC"/>
          </a:solidFill>
          <a:ln w="12700">
            <a:solidFill>
              <a:srgbClr val="DCDF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115568" y="1417320"/>
            <a:ext cx="0" cy="2834640"/>
          </a:xfrm>
          <a:prstGeom prst="line">
            <a:avLst/>
          </a:prstGeom>
          <a:noFill/>
          <a:ln w="6350">
            <a:solidFill>
              <a:srgbClr val="DCDF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548640" y="1984248"/>
            <a:ext cx="2834640" cy="0"/>
          </a:xfrm>
          <a:prstGeom prst="line">
            <a:avLst/>
          </a:prstGeom>
          <a:noFill/>
          <a:ln w="6350">
            <a:solidFill>
              <a:srgbClr val="DCDF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682496" y="1417320"/>
            <a:ext cx="0" cy="2834640"/>
          </a:xfrm>
          <a:prstGeom prst="line">
            <a:avLst/>
          </a:prstGeom>
          <a:noFill/>
          <a:ln w="6350">
            <a:solidFill>
              <a:srgbClr val="DCDF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548640" y="2551176"/>
            <a:ext cx="2834640" cy="0"/>
          </a:xfrm>
          <a:prstGeom prst="line">
            <a:avLst/>
          </a:prstGeom>
          <a:noFill/>
          <a:ln w="6350">
            <a:solidFill>
              <a:srgbClr val="DCDF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249424" y="1417320"/>
            <a:ext cx="0" cy="2834640"/>
          </a:xfrm>
          <a:prstGeom prst="line">
            <a:avLst/>
          </a:prstGeom>
          <a:noFill/>
          <a:ln w="6350">
            <a:solidFill>
              <a:srgbClr val="DCDF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548640" y="3118104"/>
            <a:ext cx="2834640" cy="0"/>
          </a:xfrm>
          <a:prstGeom prst="line">
            <a:avLst/>
          </a:prstGeom>
          <a:noFill/>
          <a:ln w="6350">
            <a:solidFill>
              <a:srgbClr val="DCDF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2816352" y="1417320"/>
            <a:ext cx="0" cy="2834640"/>
          </a:xfrm>
          <a:prstGeom prst="line">
            <a:avLst/>
          </a:prstGeom>
          <a:noFill/>
          <a:ln w="6350">
            <a:solidFill>
              <a:srgbClr val="DCDF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48640" y="3685032"/>
            <a:ext cx="2834640" cy="0"/>
          </a:xfrm>
          <a:prstGeom prst="line">
            <a:avLst/>
          </a:prstGeom>
          <a:noFill/>
          <a:ln w="6350">
            <a:solidFill>
              <a:srgbClr val="DCDF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2386584" y="1554480"/>
            <a:ext cx="292608" cy="292608"/>
          </a:xfrm>
          <a:prstGeom prst="ellipse">
            <a:avLst/>
          </a:prstGeom>
          <a:solidFill>
            <a:srgbClr val="C0392B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2386584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252728" y="2121408"/>
            <a:ext cx="292608" cy="292608"/>
          </a:xfrm>
          <a:prstGeom prst="ellipse">
            <a:avLst/>
          </a:prstGeom>
          <a:solidFill>
            <a:srgbClr val="C08A2E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 txBox="1"/>
          <p:nvPr/>
        </p:nvSpPr>
        <p:spPr>
          <a:xfrm>
            <a:off x="1252728" y="2121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819656" y="2688336"/>
            <a:ext cx="292608" cy="292608"/>
          </a:xfrm>
          <a:prstGeom prst="ellipse">
            <a:avLst/>
          </a:prstGeom>
          <a:solidFill>
            <a:srgbClr val="C08A2E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1819656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85800" y="2121408"/>
            <a:ext cx="292608" cy="292608"/>
          </a:xfrm>
          <a:prstGeom prst="ellipse">
            <a:avLst/>
          </a:prstGeom>
          <a:solidFill>
            <a:srgbClr val="C08A2E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 txBox="1"/>
          <p:nvPr/>
        </p:nvSpPr>
        <p:spPr>
          <a:xfrm>
            <a:off x="685800" y="2121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1252728" y="3255264"/>
            <a:ext cx="292608" cy="292608"/>
          </a:xfrm>
          <a:prstGeom prst="ellipse">
            <a:avLst/>
          </a:prstGeom>
          <a:solidFill>
            <a:srgbClr val="1E7A4C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1252728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502920" y="11247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↑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2011680" y="430682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 →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1371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FIVE RISKS THIS QUARTER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3840480" y="1764792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 txBox="1"/>
          <p:nvPr/>
        </p:nvSpPr>
        <p:spPr>
          <a:xfrm>
            <a:off x="3840480" y="176479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4169664" y="170992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processor concentration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3840480" y="2167128"/>
            <a:ext cx="219456" cy="219456"/>
          </a:xfrm>
          <a:prstGeom prst="ellipse">
            <a:avLst/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 txBox="1"/>
          <p:nvPr/>
        </p:nvSpPr>
        <p:spPr>
          <a:xfrm>
            <a:off x="3840480" y="216712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4169664" y="21122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authentication vulnerability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3840480" y="2569464"/>
            <a:ext cx="219456" cy="219456"/>
          </a:xfrm>
          <a:prstGeom prst="ellipse">
            <a:avLst/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 txBox="1"/>
          <p:nvPr/>
        </p:nvSpPr>
        <p:spPr>
          <a:xfrm>
            <a:off x="3840480" y="256946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4169664" y="25146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engineering key-person dependency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3840480" y="2971800"/>
            <a:ext cx="219456" cy="219456"/>
          </a:xfrm>
          <a:prstGeom prst="ellipse">
            <a:avLst/>
          </a:prstGeom>
          <a:solidFill>
            <a:srgbClr val="C08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 txBox="1"/>
          <p:nvPr/>
        </p:nvSpPr>
        <p:spPr>
          <a:xfrm>
            <a:off x="3840480" y="297180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4169664" y="291693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region single point of failure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3840480" y="3374136"/>
            <a:ext cx="219456" cy="219456"/>
          </a:xfrm>
          <a:prstGeom prst="ellipse">
            <a:avLst/>
          </a:prstGeom>
          <a:solidFill>
            <a:srgbClr val="1E7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 txBox="1"/>
          <p:nvPr/>
        </p:nvSpPr>
        <p:spPr>
          <a:xfrm>
            <a:off x="3840480" y="337413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4169664" y="331927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data processor gap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548640" y="4617720"/>
            <a:ext cx="11064240" cy="1600200"/>
          </a:xfrm>
          <a:prstGeom prst="roundRect">
            <a:avLst>
              <a:gd name="adj" fmla="val 3429"/>
            </a:avLst>
          </a:prstGeom>
          <a:solidFill>
            <a:srgbClr val="FBF0EE"/>
          </a:solidFill>
          <a:ln w="12700">
            <a:solidFill>
              <a:srgbClr val="E8C7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0"/>
          <p:cNvSpPr txBox="1"/>
          <p:nvPr/>
        </p:nvSpPr>
        <p:spPr>
          <a:xfrm>
            <a:off x="868680" y="477316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— Payment processor concentration, in business terms</a:t>
            </a:r>
            <a:endParaRPr lang="en-US" sz="1450" dirty="0"/>
          </a:p>
        </p:txBody>
      </p:sp>
      <p:sp>
        <p:nvSpPr>
          <p:cNvPr id="44" name="Text 41"/>
          <p:cNvSpPr txBox="1"/>
          <p:nvPr/>
        </p:nvSpPr>
        <p:spPr>
          <a:xfrm>
            <a:off x="868680" y="5138928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payment processor handles 100% of transaction volume. An outage or contract dispute would stop revenue collection for an estimated 60% of customers for 3 to 5 business days at current readiness. Mitigation: a secondary processor integration is scoped in the Q1 roadmap (slide 5).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Company  ·  Board of Directors  ·  Q3 2026</a:t>
            </a:r>
            <a:endParaRPr lang="en-US" sz="900" dirty="0"/>
          </a:p>
        </p:txBody>
      </p:sp>
      <p:sp>
        <p:nvSpPr>
          <p:cNvPr id="46" name="Text 43"/>
          <p:cNvSpPr txBox="1"/>
          <p:nvPr/>
        </p:nvSpPr>
        <p:spPr>
          <a:xfrm>
            <a:off x="10332720" y="6537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407" y="510967"/>
            <a:ext cx="276515" cy="27651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51560" y="429768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&amp; Requests From the Board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868680" y="15361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REQUESTED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$2.4M platform reliability investment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33172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the infrastructure work needed to support 3x customer growth over the next 18 months without a proportional increase in headcount. Full business case attached in the appendix.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3639312"/>
            <a:ext cx="91440" cy="914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5204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discussion: acceptable risk tolerance for the payment processor concentration (slide 6) while the secondary integration is built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4325112"/>
            <a:ext cx="91440" cy="914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822960" y="42062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2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awareness only: AI governance framework will be reviewed against emerging regulatory guidance next quarter, no board action needed now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Company  ·  Board of Directors  ·  Q3 2026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332720" y="6537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624</Words>
  <Application>Microsoft Macintosh PowerPoint</Application>
  <PresentationFormat>Widescreen</PresentationFormat>
  <Paragraphs>105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KF</dc:creator>
  <cp:keywords/>
  <dc:description/>
  <cp:lastModifiedBy>Kevin Forbes</cp:lastModifiedBy>
  <cp:revision>2</cp:revision>
  <dcterms:created xsi:type="dcterms:W3CDTF">2026-08-30T18:30:40Z</dcterms:created>
  <dcterms:modified xsi:type="dcterms:W3CDTF">2026-09-01T05:28:34Z</dcterms:modified>
  <cp:category/>
</cp:coreProperties>
</file>