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12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Update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|  Board of Directors  |  Q3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20116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deck. Figures are synthetic; structure follows the CTO Toolkit's Board Reporting page.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953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99.95%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56616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security incidents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953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644652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in production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953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under governance review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189720" y="141732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326880" y="1645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29535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over year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7033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F3EA"/>
          </a:solidFill>
          <a:ln w="12700">
            <a:solidFill>
              <a:srgbClr val="E9D8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22960" y="3840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input needed this meeting: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38404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requested for the platform reliability investment; see Decisions, slide 7.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Outcomes This Quarter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for the business, rather than what shipped internally.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813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3898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time cut from 5 weeks to 12 days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8745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data shows a meaningful lift in trial-to-paid conversion; full quarter attribution in progress.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89864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8072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pricing tier launched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291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segment previously requiring a sales-assisted deal; first full quarter of bookings next update.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31596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2245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 reduced 18% year over year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7091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through commitment coverage and rightsizing, with no reduction in reliability targets.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AI Posture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hrs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75488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3.4 hrs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883664"/>
            <a:ext cx="5120640" cy="0"/>
          </a:xfrm>
          <a:prstGeom prst="line">
            <a:avLst/>
          </a:prstGeom>
          <a:noFill/>
          <a:ln w="9525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19568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remediate (critical)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1956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days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9568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7.2 days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120640" cy="0"/>
          </a:xfrm>
          <a:prstGeom prst="line">
            <a:avLst/>
          </a:prstGeom>
          <a:noFill/>
          <a:ln w="9525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2450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under current compliance coverage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4505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450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89%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2871216"/>
            <a:ext cx="5120640" cy="0"/>
          </a:xfrm>
          <a:prstGeom prst="line">
            <a:avLst/>
          </a:prstGeom>
          <a:noFill/>
          <a:ln w="9525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548640" y="2944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with current SOC 2 or equivalent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749040" y="294436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754880" y="29443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85%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3364992"/>
            <a:ext cx="5120640" cy="0"/>
          </a:xfrm>
          <a:prstGeom prst="line">
            <a:avLst/>
          </a:prstGeom>
          <a:noFill/>
          <a:ln w="9525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548640" y="354787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material incidents this quarter. Cyber insurance coverage current and adequate for estimated exposure. Controls tracking in line with industry peers on the metrics we benchmark.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989320" y="1051560"/>
            <a:ext cx="0" cy="5029200"/>
          </a:xfrm>
          <a:prstGeom prst="line">
            <a:avLst/>
          </a:prstGeom>
          <a:noFill/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309360" y="10058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446" y="1051926"/>
            <a:ext cx="237012" cy="23701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720840" y="10058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09360" y="1563624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6537960" y="145389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triage: routes and drafts first-response suggestions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309360" y="2130552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6537960" y="2020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search: employee-facing, no customer data exposure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309360" y="2697480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537960" y="2587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assistant: engineering only, human approval required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309360" y="33467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spend: $14,200  ·  Governed under the standing AI control framework (identity, data, model, monitoring)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Roadmap Tied to Outcomes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it drives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11064240" cy="960120"/>
          </a:xfrm>
          <a:prstGeom prst="rect">
            <a:avLst/>
          </a:prstGeom>
          <a:solidFill>
            <a:srgbClr val="F7F8FA"/>
          </a:solidFill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reliability investment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82880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3x customer growth without proportional headcount growth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18288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78892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278892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system modernization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78892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invoice-to-cash cycle time; unblocks two enterprise deals pending this capability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27889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Q1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11064240" cy="960120"/>
          </a:xfrm>
          <a:prstGeom prst="rect">
            <a:avLst/>
          </a:prstGeom>
          <a:solidFill>
            <a:srgbClr val="F7F8FA"/>
          </a:solidFill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37490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tier expansion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374904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segment previously requiring a sales-assisted deal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37490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At a Glance and In Business Terms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2834640" cy="2834640"/>
          </a:xfrm>
          <a:prstGeom prst="rect">
            <a:avLst/>
          </a:prstGeom>
          <a:solidFill>
            <a:srgbClr val="FAFBFC"/>
          </a:solidFill>
          <a:ln w="1270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15568" y="1417320"/>
            <a:ext cx="0" cy="283464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984248"/>
            <a:ext cx="2834640" cy="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682496" y="1417320"/>
            <a:ext cx="0" cy="283464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551176"/>
            <a:ext cx="2834640" cy="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249424" y="1417320"/>
            <a:ext cx="0" cy="283464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3118104"/>
            <a:ext cx="2834640" cy="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16352" y="1417320"/>
            <a:ext cx="0" cy="283464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3685032"/>
            <a:ext cx="2834640" cy="0"/>
          </a:xfrm>
          <a:prstGeom prst="line">
            <a:avLst/>
          </a:prstGeom>
          <a:noFill/>
          <a:ln w="6350">
            <a:solidFill>
              <a:srgbClr val="DC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86584" y="1554480"/>
            <a:ext cx="292608" cy="29260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386584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252728" y="2121408"/>
            <a:ext cx="292608" cy="292608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252728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819656" y="2688336"/>
            <a:ext cx="292608" cy="292608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819656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" y="2121408"/>
            <a:ext cx="292608" cy="292608"/>
          </a:xfrm>
          <a:prstGeom prst="ellipse">
            <a:avLst/>
          </a:prstGeom>
          <a:solidFill>
            <a:srgbClr val="C08A2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8580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252728" y="3255264"/>
            <a:ext cx="292608" cy="292608"/>
          </a:xfrm>
          <a:prstGeom prst="ellipse">
            <a:avLst/>
          </a:prstGeom>
          <a:solidFill>
            <a:srgbClr val="1E7A4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25272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1124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2011680" y="4306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3840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FIVE RISKS THIS QUARTER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840480" y="1764792"/>
            <a:ext cx="219456" cy="21945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3840480" y="17647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169664" y="17099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 concentration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840480" y="2167128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3840480" y="2167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4169664" y="21122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authentication vulnerability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840480" y="2569464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3840480" y="2569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169664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key-person dependency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3840480" y="2971800"/>
            <a:ext cx="219456" cy="219456"/>
          </a:xfrm>
          <a:prstGeom prst="ellipse">
            <a:avLst/>
          </a:prstGeom>
          <a:solidFill>
            <a:srgbClr val="C0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3840480" y="2971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169664" y="29169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region single point of failure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840480" y="3374136"/>
            <a:ext cx="219456" cy="219456"/>
          </a:xfrm>
          <a:prstGeom prst="ellipse">
            <a:avLst/>
          </a:prstGeom>
          <a:solidFill>
            <a:srgbClr val="1E7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3840480" y="33741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4169664" y="33192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data processor gap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FBF0EE"/>
          </a:solidFill>
          <a:ln w="12700">
            <a:solidFill>
              <a:srgbClr val="E8C7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868680" y="47731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#1: Payment processor concentration, in business terms</a:t>
            </a:r>
            <a:endParaRPr lang="en-US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868680" y="5138928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payment processor handles 100% of transaction volume. An outage or contract dispute would stop revenue collection for an estimated 60% of customers for 3 to 5 business days at current readiness. Mitigation: a secondary processor integration is scoped in the Q1 roadmap (slide 5).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07" y="510967"/>
            <a:ext cx="276515" cy="276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51560" y="4297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Requests From the Board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6868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REQUESTED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828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 platform reliability investment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3172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the infrastructure work needed to support 3x customer growth over the next 18 months without a proportional increase in headcount. Full business case attached in the appendix.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63931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discussion: acceptable risk tolerance for the payment processor concentration (slide 6) while the secondary integration is built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32511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22960" y="4206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awareness only: AI governance framework will be reviewed against emerging regulatory guidance next quarter, no board action needed now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 ·  Board of Directors  ·  Q3 2026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Macintosh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KF</dc:creator>
  <cp:keywords/>
  <dc:description/>
  <cp:lastModifiedBy>Kevin Forbes</cp:lastModifiedBy>
  <cp:revision>2</cp:revision>
  <dcterms:created xsi:type="dcterms:W3CDTF">2026-08-30T18:30:40Z</dcterms:created>
  <dcterms:modified xsi:type="dcterms:W3CDTF">2026-09-01T05:28:34Z</dcterms:modified>
  <cp:category/>
</cp:coreProperties>
</file>